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23d68fa40448d" /><Relationship Type="http://schemas.openxmlformats.org/officeDocument/2006/relationships/extended-properties" Target="/docProps/app.xml" Id="Rfcb0ea9ee8444850" /><Relationship Type="http://schemas.openxmlformats.org/officeDocument/2006/relationships/officeDocument" Target="/ppt/presentation.xml" Id="R03dc46af9c4c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9b76ece9643be"/>
  </p:sldMasterIdLst>
  <p:notesMasterIdLst>
    <p:notesMasterId xmlns:r="http://schemas.openxmlformats.org/officeDocument/2006/relationships" r:id="R3636ba55ff674e86"/>
  </p:notesMasterIdLst>
  <p:sldIdLst>
    <p:sldId xmlns:r="http://schemas.openxmlformats.org/officeDocument/2006/relationships" id="256" r:id="R37b352452314466a"/>
    <p:sldId xmlns:r="http://schemas.openxmlformats.org/officeDocument/2006/relationships" id="257" r:id="R81dd305ae5b044ed"/>
    <p:sldId xmlns:r="http://schemas.openxmlformats.org/officeDocument/2006/relationships" id="258" r:id="R196d461a6c7c4a71"/>
    <p:sldId xmlns:r="http://schemas.openxmlformats.org/officeDocument/2006/relationships" id="259" r:id="R252583f379e24b04"/>
    <p:sldId xmlns:r="http://schemas.openxmlformats.org/officeDocument/2006/relationships" id="260" r:id="R8af98739701043e9"/>
    <p:sldId xmlns:r="http://schemas.openxmlformats.org/officeDocument/2006/relationships" id="261" r:id="R7d8999225b2b4912"/>
    <p:sldId xmlns:r="http://schemas.openxmlformats.org/officeDocument/2006/relationships" id="262" r:id="R5638144fbfa64b97"/>
    <p:sldId xmlns:r="http://schemas.openxmlformats.org/officeDocument/2006/relationships" id="263" r:id="Rd7e156fca4974cf4"/>
    <p:sldId xmlns:r="http://schemas.openxmlformats.org/officeDocument/2006/relationships" id="264" r:id="R0e449d232e0344fa"/>
    <p:sldId xmlns:r="http://schemas.openxmlformats.org/officeDocument/2006/relationships" id="265" r:id="R69e1de6aabcf4ecf"/>
    <p:sldId xmlns:r="http://schemas.openxmlformats.org/officeDocument/2006/relationships" id="266" r:id="Rdb31ac417cfa4676"/>
    <p:sldId xmlns:r="http://schemas.openxmlformats.org/officeDocument/2006/relationships" id="267" r:id="R63abe83fe9da43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08e4bf374484f" /><Relationship Type="http://schemas.openxmlformats.org/officeDocument/2006/relationships/slideMaster" Target="/ppt/slideMasters/slideMaster1.xml" Id="R73b9b76ece9643be" /><Relationship Type="http://schemas.openxmlformats.org/officeDocument/2006/relationships/notesMaster" Target="/ppt/notesMasters/notesMaster1.xml" Id="R3636ba55ff674e86" /><Relationship Type="http://schemas.openxmlformats.org/officeDocument/2006/relationships/presProps" Target="/ppt/presProps.xml" Id="R3cc2dc250f1148c4" /><Relationship Type="http://schemas.openxmlformats.org/officeDocument/2006/relationships/tableStyles" Target="/ppt/tableStyles.xml" Id="R5215fa74928640bb" /><Relationship Type="http://schemas.openxmlformats.org/officeDocument/2006/relationships/slide" Target="/ppt/slides/slide1.xml" Id="R37b352452314466a" /><Relationship Type="http://schemas.openxmlformats.org/officeDocument/2006/relationships/slide" Target="/ppt/slides/slide2.xml" Id="R81dd305ae5b044ed" /><Relationship Type="http://schemas.openxmlformats.org/officeDocument/2006/relationships/slide" Target="/ppt/slides/slide3.xml" Id="R196d461a6c7c4a71" /><Relationship Type="http://schemas.openxmlformats.org/officeDocument/2006/relationships/slide" Target="/ppt/slides/slide4.xml" Id="R252583f379e24b04" /><Relationship Type="http://schemas.openxmlformats.org/officeDocument/2006/relationships/slide" Target="/ppt/slides/slide5.xml" Id="R8af98739701043e9" /><Relationship Type="http://schemas.openxmlformats.org/officeDocument/2006/relationships/slide" Target="/ppt/slides/slide6.xml" Id="R7d8999225b2b4912" /><Relationship Type="http://schemas.openxmlformats.org/officeDocument/2006/relationships/slide" Target="/ppt/slides/slide7.xml" Id="R5638144fbfa64b97" /><Relationship Type="http://schemas.openxmlformats.org/officeDocument/2006/relationships/slide" Target="/ppt/slides/slide8.xml" Id="Rd7e156fca4974cf4" /><Relationship Type="http://schemas.openxmlformats.org/officeDocument/2006/relationships/slide" Target="/ppt/slides/slide9.xml" Id="R0e449d232e0344fa" /><Relationship Type="http://schemas.openxmlformats.org/officeDocument/2006/relationships/slide" Target="/ppt/slides/slide10.xml" Id="R69e1de6aabcf4ecf" /><Relationship Type="http://schemas.openxmlformats.org/officeDocument/2006/relationships/slide" Target="/ppt/slides/slide11.xml" Id="Rdb31ac417cfa4676" /><Relationship Type="http://schemas.openxmlformats.org/officeDocument/2006/relationships/slide" Target="/ppt/slides/slide12.xml" Id="R63abe83fe9da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650b166334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4a1f978938445e" /><Relationship Type="http://schemas.openxmlformats.org/officeDocument/2006/relationships/notesMaster" Target="/ppt/notesMasters/notesMaster1.xml" Id="Re8a07ec0f853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f9f8ea3974c43" /><Relationship Type="http://schemas.openxmlformats.org/officeDocument/2006/relationships/notesMaster" Target="/ppt/notesMasters/notesMaster1.xml" Id="Ra0235fc53ad6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692000cc34763" /><Relationship Type="http://schemas.openxmlformats.org/officeDocument/2006/relationships/notesMaster" Target="/ppt/notesMasters/notesMaster1.xml" Id="R4a123b894811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3e4461b97c4ede" /><Relationship Type="http://schemas.openxmlformats.org/officeDocument/2006/relationships/notesMaster" Target="/ppt/notesMasters/notesMaster1.xml" Id="Re149767f43b644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ecafd58d848a5" /><Relationship Type="http://schemas.openxmlformats.org/officeDocument/2006/relationships/notesMaster" Target="/ppt/notesMasters/notesMaster1.xml" Id="Ref1b6460982642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bbdfe8ab54765" /><Relationship Type="http://schemas.openxmlformats.org/officeDocument/2006/relationships/notesMaster" Target="/ppt/notesMasters/notesMaster1.xml" Id="Re522588cc20b47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2fa27addf44cea" /><Relationship Type="http://schemas.openxmlformats.org/officeDocument/2006/relationships/notesMaster" Target="/ppt/notesMasters/notesMaster1.xml" Id="R93f5e48337954f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201ae49e8f469a" /><Relationship Type="http://schemas.openxmlformats.org/officeDocument/2006/relationships/notesMaster" Target="/ppt/notesMasters/notesMaster1.xml" Id="R1e0f53057c1c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912242b654659" /><Relationship Type="http://schemas.openxmlformats.org/officeDocument/2006/relationships/notesMaster" Target="/ppt/notesMasters/notesMaster1.xml" Id="Rd67d7fe476cf4b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72c76064f42c5" /><Relationship Type="http://schemas.openxmlformats.org/officeDocument/2006/relationships/notesMaster" Target="/ppt/notesMasters/notesMaster1.xml" Id="R58cd083a539149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fb3e747417400c" /><Relationship Type="http://schemas.openxmlformats.org/officeDocument/2006/relationships/notesMaster" Target="/ppt/notesMasters/notesMaster1.xml" Id="Rc7eba961c14842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e9e28661aa4e57" /><Relationship Type="http://schemas.openxmlformats.org/officeDocument/2006/relationships/notesMaster" Target="/ppt/notesMasters/notesMaster1.xml" Id="Rbae0028f4e35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開場約20秒。今天提案聚焦調度營運經理與駕駛的協作，將主辦方歷史遙測轉成有證據的改善工作。這是已部署的參賽原型，效益將透過試點驗證。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約25秒。題目描述已有大量數據與管理功能。我們聚焦管理者接到異常後，還需要追問作業原因、分工並收集結果的空隙。這些是題目推導的待驗證營運假設，不是假裝做過使用者訪談。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約30秒。這份資料有487,510筆、20台車，期間2025年1月到11月。四個月零筆、8月只有24筆，不能將缺測視為零事件或100分。圖表是原生可編輯圖表。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約25秒。主要使用者是調度營運經理，老闆看改善進度，駕駛只在出車前與停妥後使用。現有角色是本機展示範圍，尚非正式身份與授權系統。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約30秒。現場Demo可用ABC-5310：管理者建案、覆核，駕駛登入同車號接續回報。案件停在待量測，不會自動宣布已改善。案件保存在目前瀏覽器，可匯出JSON。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約30秒。ABC-7610在整段歷史資料中怠速34.5%。這是紀錄比例，不是時間或耗油比例。先請駕駛確認等待與必要作業，調度改善可避免的到場時段，保修核對冷藏與PTO限制。這是待確認建議。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約30秒。ABC-5310超速22.6%、7675筆，分母行駛紀錄。這裡尚無事件去重及事故結果標籤，因此不宣稱事故機率。方案的預先介入在於下一趟出車前，核對限速與派车時窗後提供一項提醒。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伺服器從固定版本的資料產生證據，不信任前端任意提交的油耗或風險數字。規則負責算數與篩選，Gemini依期間、車號、分母與限制解讀。模型不操作案件。未連接時明示規則摘要。本次預覽實測Google拒絕現有金鑰，需更新Vercel的GEMINI_API_KEY並重新部署後驗證生成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約30秒。15台同月里程至少500km車輛，合計12324公升及42613.1公里，得到28.92L/100km。假設固定里程與條件下改善3%、油價30元，節省369.72公升，約11092元。這是情境，不是實證，不外推四千台。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約30秒。先建基線再配對車型路線載重，在可行情況分派介入與對照組。每次只改一項等待或提醒，量測兩組前後變化及信賴區間。樣本數依實際變異估算，不能保证20台足夠。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約25秒。已實作的是歷史證據、角色操作、模型解讀串接與效益試算。正式上線需共享案件、可信身份與事件品質。事故預測需新資料與模型回測，不能拿這個版本的原型分數宣称預測。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結尾約20秒。希望取得小型配對車隊與作業情境，以六週試點驗證省油、安全與判讀效率。請評審直接試用線上原型，從一張證據卡開始看完整流程。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 HINO × GenAI 題目；output data_Hotai_20260511.xlsx 的編譯資料；本專案 src/partner 與 lib/telemetry.js。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20535361e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b6c4dde6646f9" /><Relationship Type="http://schemas.openxmlformats.org/officeDocument/2006/relationships/slideLayout" Target="/ppt/slideLayouts/slideLayout1.xml" Id="R528870943597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870943597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3c6717b4f4c82" /><Relationship Type="http://schemas.openxmlformats.org/officeDocument/2006/relationships/notesSlide" Target="/ppt/notesSlides/notesSlide1.xml" Id="R5c257a241c134f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31717c204f70" /><Relationship Type="http://schemas.openxmlformats.org/officeDocument/2006/relationships/notesSlide" Target="/ppt/notesSlides/notesSlide2.xml" Id="Rcca9f814b821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3e887f673440a" /><Relationship Type="http://schemas.openxmlformats.org/officeDocument/2006/relationships/chart" Target="/ppt/slides/charts/chart1.xml" Id="Re192394533354478" /><Relationship Type="http://schemas.openxmlformats.org/officeDocument/2006/relationships/notesSlide" Target="/ppt/notesSlides/notesSlide3.xml" Id="Ra747eb472ce543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3201213c64bb4" /><Relationship Type="http://schemas.openxmlformats.org/officeDocument/2006/relationships/notesSlide" Target="/ppt/notesSlides/notesSlide4.xml" Id="R6e4132a88870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855cfb2e94ca7" /><Relationship Type="http://schemas.openxmlformats.org/officeDocument/2006/relationships/notesSlide" Target="/ppt/notesSlides/notesSlide5.xml" Id="Re17f09315a4d49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79f915ef14f81" /><Relationship Type="http://schemas.openxmlformats.org/officeDocument/2006/relationships/notesSlide" Target="/ppt/notesSlides/notesSlide6.xml" Id="R03a9d9c49ed84b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470348e224096" /><Relationship Type="http://schemas.openxmlformats.org/officeDocument/2006/relationships/notesSlide" Target="/ppt/notesSlides/notesSlide7.xml" Id="R13585a92444249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74e25081d493a" /><Relationship Type="http://schemas.openxmlformats.org/officeDocument/2006/relationships/notesSlide" Target="/ppt/notesSlides/notesSlide8.xml" Id="R2fde6d7f6ed648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1c5c76aa04587" /><Relationship Type="http://schemas.openxmlformats.org/officeDocument/2006/relationships/notesSlide" Target="/ppt/notesSlides/notesSlide9.xml" Id="R756a7ae9b58544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006f947b84291" /><Relationship Type="http://schemas.openxmlformats.org/officeDocument/2006/relationships/notesSlide" Target="/ppt/notesSlides/notesSlide10.xml" Id="R904831fab07f44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8d536cbd24ff5" /><Relationship Type="http://schemas.openxmlformats.org/officeDocument/2006/relationships/notesSlide" Target="/ppt/notesSlides/notesSlide11.xml" Id="R5beb2862ae4748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e6ddd71ca4fdc" /><Relationship Type="http://schemas.openxmlformats.org/officeDocument/2006/relationships/notesSlide" Target="/ppt/notesSlides/notesSlide12.xml" Id="Rb3635c23aa9c456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遙測紀錄（筆）</c:v>
          </c:tx>
          <c:spPr>
            <a:solidFill xmlns:a="http://schemas.openxmlformats.org/drawingml/2006/main">
              <a:srgbClr val="4F805A"/>
            </a:solidFill>
          </c:spPr>
          <c:cat>
            <c:strRef>
              <c:f>'Chart Data'!$A$2:$A$12</c:f>
              <c:strCache>
                <c:ptCount val="11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</c:strCache>
            </c:strRef>
          </c:cat>
          <c:val>
            <c:numRef>
              <c:f>'Chart Data'!$B$2:$B$12</c:f>
              <c:numCache>
                <c:formatCode>#,##0</c:formatCode>
                <c:ptCount val="11"/>
                <c:pt idx="0">
                  <c:v>61486</c:v>
                </c:pt>
                <c:pt idx="1">
                  <c:v>0</c:v>
                </c:pt>
                <c:pt idx="2">
                  <c:v>99280</c:v>
                </c:pt>
                <c:pt idx="3">
                  <c:v>0</c:v>
                </c:pt>
                <c:pt idx="4">
                  <c:v>65393</c:v>
                </c:pt>
                <c:pt idx="5">
                  <c:v>0</c:v>
                </c:pt>
                <c:pt idx="6">
                  <c:v>104667</c:v>
                </c:pt>
                <c:pt idx="7">
                  <c:v>24</c:v>
                </c:pt>
                <c:pt idx="8">
                  <c:v>87140</c:v>
                </c:pt>
                <c:pt idx="9">
                  <c:v>0</c:v>
                </c:pt>
                <c:pt idx="10">
                  <c:v>69520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ECA8-D603-4AF8-88FD-3E772E3F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9E7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9E7AF"/>
                </a:solidFill>
                <a:latin typeface="Arial Unicode MS"/>
                <a:ea typeface="Arial Unicode MS"/>
                <a:cs typeface="Arial Unicode MS"/>
              </a:rPr>
              <a:t>HINO × GenAI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13900-3153-431E-BBCC-5A4BF07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商用車頭家的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智慧營運夥伴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4CAF5-5B33-44FF-9E9A-1A18517E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rPr>
              <a:t>省油與安全的協作改善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BD44-A338-4318-891F-D5AF98CD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rPr>
              <a:t>火箭隊　2026 和泰 AI 黑客松</a:t>
            </a:r>
          </a:p>
        </p:txBody>
      </p:sp>
    </p:spTree>
    <p:extLst>
      <p:ext uri="{BB962C8B-B14F-4D97-AF65-F5344CB8AC3E}">
        <p14:creationId xmlns:p14="http://schemas.microsoft.com/office/powerpoint/2010/main" val="54602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244B-7696-4B5D-9784-FC08D4BC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營運痛點：看見異常之後，誰來改善？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F8C3-5D22-4EF6-8E83-1A34C48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怠速偏高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A4152-FA7B-409E-BB9B-B324306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等待卸貨、必要作業與車況可能同時影響油耗，駕駛需要調度與保修協助。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19411-5A3A-4272-B3D5-06BAC5D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安全訊號零散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B43C-5FF9-490E-A4F6-88FE61A7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超速紀錄需要核對限速與派車條件，才能形成下一趟出車前的提醒。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A28E2-14C3-4E00-A510-51D4C4A4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改善沒有證據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96BB9-C6E6-42D4-AA10-F8C76B1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提醒後需記錄措施、回報與量測，才能確認改善是否有效。</a:t>
            </a:r>
          </a:p>
        </p:txBody>
      </p:sp>
    </p:spTree>
    <p:extLst>
      <p:ext uri="{BB962C8B-B14F-4D97-AF65-F5344CB8AC3E}">
        <p14:creationId xmlns:p14="http://schemas.microsoft.com/office/powerpoint/2010/main" val="1741187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FD8D-836D-476A-9F61-7C8E164B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資料基礎與完整度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3F504-A611-4EBE-9AB5-B78F477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487,510 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E5312-2582-4D95-B05A-74F67A02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20 台車　2025 年 1–11 月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923945333544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CFCEC-5F13-4BA0-91AB-F679DA2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2、4、6、10 月缺測。8 月僅 24 筆，不能視為完整月份。</a:t>
            </a:r>
          </a:p>
        </p:txBody>
      </p:sp>
    </p:spTree>
    <p:extLst>
      <p:ext uri="{BB962C8B-B14F-4D97-AF65-F5344CB8AC3E}">
        <p14:creationId xmlns:p14="http://schemas.microsoft.com/office/powerpoint/2010/main" val="1939992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D81D-178A-469B-B9B5-4818E06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主要使用者與介入時機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EF1B5-2FBA-415B-A5A5-F2C4954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調度營運經理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B3025-19D2-4AA2-B70F-13B44F7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班前挑選待覆核訊號，確認等待時窗、交付條件與承接角色。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7E1B6-13F7-4E9E-8519-5075A8F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駕駛與車主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1D924-8FC6-4CC8-91AC-79469346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出車前閱讀一項提醒，停妥後回報作業情境與執行障礙。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F5A01-4B1A-4E4B-B66B-3CEC7AEF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保修與車隊老闆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94EB1-722D-4001-8D5C-B2FFBBA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保修確認車況與必要作業，老闆檢視改善進度與量測結果。</a:t>
            </a:r>
          </a:p>
        </p:txBody>
      </p:sp>
    </p:spTree>
    <p:extLst>
      <p:ext uri="{BB962C8B-B14F-4D97-AF65-F5344CB8AC3E}">
        <p14:creationId xmlns:p14="http://schemas.microsoft.com/office/powerpoint/2010/main" val="2019144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50271-7D58-43E1-B32D-FCA41125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協作流程與案件歷程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46387-F988-4DCD-B48C-45F4C70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證據與分工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1B81-1E3C-45B1-9507-5C1E899E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車號、期間、分母與來源欄位</a:t>
            </a:r>
          </a:p>
          <a:p xmlns:a="http://schemas.openxmlformats.org/drawingml/2006/main">
            <a:pPr>
              <a:def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承接角色、覆核日期與待確認原因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73B4-B437-46A4-894F-F8A37F6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覆核、回報與待量測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72BA8-EB1C-4EB6-B19C-3C6BBD0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每次狀態轉換都留下說明</a:t>
            </a:r>
          </a:p>
          <a:p xmlns:a="http://schemas.openxmlformats.org/drawingml/2006/main">
            <a:pPr>
              <a:def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回報完成後仍需同條件的追蹤資料</a:t>
            </a:r>
          </a:p>
        </p:txBody>
      </p:sp>
    </p:spTree>
    <p:extLst>
      <p:ext uri="{BB962C8B-B14F-4D97-AF65-F5344CB8AC3E}">
        <p14:creationId xmlns:p14="http://schemas.microsoft.com/office/powerpoint/2010/main" val="2124803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C584A-F4EF-47B3-BC29-8A5FB4C7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節能案例：等待怠速的共同改善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3FD9-5D08-452C-B520-AEB52D3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ABC-7610　怠速紀錄 34.5%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48F85-F42B-4CFC-B9CD-C44A68AB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駕駛回報等待原因，調度核對卸貨時窗</a:t>
            </a:r>
          </a:p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保修確認冷藏、PTO 與必要作業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18E45-C132-466D-B704-C456730C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驗證方式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D1C2C-D60E-4607-BBCB-5CB3046A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同條件 L/100km 與可避免怠速分鐘</a:t>
            </a:r>
          </a:p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資料期間：2025-01-01 至 2025-11-30</a:t>
            </a:r>
          </a:p>
        </p:txBody>
      </p:sp>
    </p:spTree>
    <p:extLst>
      <p:ext uri="{BB962C8B-B14F-4D97-AF65-F5344CB8AC3E}">
        <p14:creationId xmlns:p14="http://schemas.microsoft.com/office/powerpoint/2010/main" val="1052499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B9D8E-1999-46EE-B8E1-36C2665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安全案例：下一趟出車前的覆核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BEB4-0BC0-471E-94F7-345FAEF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ABC-5310　超速紀錄 22.6%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94FFF-A055-42A6-AF31-398A10EC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限速與路段覆核後，調度確認交付時窗</a:t>
            </a:r>
          </a:p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駕駛出車前閱讀提醒，停妥後回報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CDFE-23DE-4DE0-9684-05D4760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驗證方式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64763-6E61-476C-82AB-C31C50DA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去重超速事件／1,000 km、提醒誤報率</a:t>
            </a:r>
          </a:p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歷史排序不等於事故機率模型</a:t>
            </a:r>
          </a:p>
        </p:txBody>
      </p:sp>
    </p:spTree>
    <p:extLst>
      <p:ext uri="{BB962C8B-B14F-4D97-AF65-F5344CB8AC3E}">
        <p14:creationId xmlns:p14="http://schemas.microsoft.com/office/powerpoint/2010/main" val="1162798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42664-CCC6-4B04-B1C8-FE4B82B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AI 技術：證據計算與生成解讀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F35BA-C5D6-41F1-8D80-0F90C7B7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資料與規則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087F5-D446-4F34-9E6B-B72547D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伺服器建立證據包，計算同月加權油耗與覆核候選，限制資料範圍。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EBE2F-A191-4DCE-AD98-7FD60FC3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生成式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1515E-B779-4C21-856F-4C1E1A8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Gemini 依證據解讀分工與指標。</a:t>
            </a:r>
          </a:p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目前線上採規則摘要，生成服務待啟用。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71934-4610-4E88-A5F8-6462FA69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人工追蹤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05D65-9769-4F9E-AAE4-E03D2FB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使用者確認並記錄措施，模型不代替派工或認定成效。</a:t>
            </a:r>
          </a:p>
        </p:txBody>
      </p:sp>
    </p:spTree>
    <p:extLst>
      <p:ext uri="{BB962C8B-B14F-4D97-AF65-F5344CB8AC3E}">
        <p14:creationId xmlns:p14="http://schemas.microsoft.com/office/powerpoint/2010/main" val="364112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087A6-B18B-42ED-8497-D33057D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節能情境試算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8C78-970D-487B-A93B-521A38A5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28.92 L/100km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7CD7F-079D-4E29-B665-380A6320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2025 年 11 月，15 台合格車輛的加權基線</a:t>
            </a:r>
          </a:p>
          <a:p xmlns:a="http://schemas.openxmlformats.org/drawingml/2006/main">
            <a:pPr>
              <a:defRPr sz="225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12,324 L ÷ 42,613.1 km ×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9F09C-29FC-4F42-B0DE-195121C2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假設改善 3%　約 NT$11,092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FE15E-64F1-4E2B-999B-DF81A6E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油價假設 NT$30/L，相同里程與條件，未扣導入成本</a:t>
            </a:r>
          </a:p>
          <a:p xmlns:a="http://schemas.openxmlformats.org/drawingml/2006/main">
            <a:pPr>
              <a:defRPr sz="20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這是該基線月份的試算，尚未實現</a:t>
            </a:r>
          </a:p>
        </p:txBody>
      </p:sp>
    </p:spTree>
    <p:extLst>
      <p:ext uri="{BB962C8B-B14F-4D97-AF65-F5344CB8AC3E}">
        <p14:creationId xmlns:p14="http://schemas.microsoft.com/office/powerpoint/2010/main" val="1329588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B28FC-4B66-4FED-91F9-9709211E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六週試點與量化目標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2E0A1-21D1-4D38-9DAB-2C512565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第 1–2 週：資料品質與配對基線</a:t>
            </a:r>
          </a:p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第 3–4 週：小範圍介入與協作回報</a:t>
            </a:r>
          </a:p>
          <a:p xmlns:a="http://schemas.openxmlformats.org/drawingml/2006/main">
            <a:pPr>
              <a:def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第 5–6 週：對照比較與人工覆核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2293E-40A5-4EBB-8A45-E18D67B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3F32"/>
                </a:solidFill>
                <a:latin typeface="Arial Unicode MS"/>
                <a:ea typeface="Arial Unicode MS"/>
                <a:cs typeface="Arial Unicode MS"/>
              </a:rPr>
              <a:t>待驗證目標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E67C0-BEA8-466B-8EB9-DC29E8C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L/100km 改善 ≥3%　　超速事件率下降 ≥10%</a:t>
            </a:r>
          </a:p>
          <a:p xmlns:a="http://schemas.openxmlformats.org/drawingml/2006/main">
            <a:pPr>
              <a:def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每案判讀時間降低 ≥30%　　回報完成率 ≥80%</a:t>
            </a:r>
          </a:p>
        </p:txBody>
      </p:sp>
    </p:spTree>
    <p:extLst>
      <p:ext uri="{BB962C8B-B14F-4D97-AF65-F5344CB8AC3E}">
        <p14:creationId xmlns:p14="http://schemas.microsoft.com/office/powerpoint/2010/main" val="664943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52733-4CA8-43F5-83EF-2E03DDF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落地範圍與下一階段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7C6CA-1CF3-4E22-B1A9-2D7A8B5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已完成的原型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63433-6AD7-4418-9D3B-0DD70EF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證據卡、角色協作、案件歷程、效益試算與模型解讀串接。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9EE72-9849-4115-8611-ED6E9C6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試點需要的整合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0D587-F33C-44CD-B28E-35B5060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可信身份、共享案件、車機事件品質，以及載重與作業情境。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692F0-C669-4071-99D7-79227519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62F"/>
                </a:solidFill>
                <a:latin typeface="Arial Unicode MS"/>
                <a:ea typeface="Arial Unicode MS"/>
                <a:cs typeface="Arial Unicode MS"/>
              </a:rPr>
              <a:t>後續研究方向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B912-3D36-4DA4-9488-3806474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6C62"/>
                </a:solidFill>
                <a:latin typeface="Arial Unicode MS"/>
                <a:ea typeface="Arial Unicode MS"/>
                <a:cs typeface="Arial Unicode MS"/>
              </a:rPr>
              <a:t>累積時間窗與事故標籤後，再評估預測、校準與主動通知。</a:t>
            </a:r>
          </a:p>
        </p:txBody>
      </p:sp>
    </p:spTree>
    <p:extLst>
      <p:ext uri="{BB962C8B-B14F-4D97-AF65-F5344CB8AC3E}">
        <p14:creationId xmlns:p14="http://schemas.microsoft.com/office/powerpoint/2010/main" val="1359682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497B1-E02E-42E6-A2D7-59594D4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以六週試點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驗證一次真正的改善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93C87-7ABF-467A-BF7E-D6A15E87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9E7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D9E7AF"/>
                </a:solidFill>
                <a:latin typeface="Arial Unicode MS"/>
                <a:ea typeface="Arial Unicode MS"/>
                <a:cs typeface="Arial Unicode MS"/>
              </a:rPr>
              <a:t>HINO × GenAI 智慧營運夥伴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3FB5-5EC1-49F3-83FB-C5C6B7FA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D1E5D7"/>
                </a:solidFill>
                <a:latin typeface="Arial Unicode MS"/>
                <a:ea typeface="Arial Unicode MS"/>
                <a:cs typeface="Arial Unicode MS"/>
              </a:rPr>
              <a:t>線上原型：hino-agent.vercel.app</a:t>
            </a:r>
          </a:p>
        </p:txBody>
      </p:sp>
    </p:spTree>
    <p:extLst>
      <p:ext uri="{BB962C8B-B14F-4D97-AF65-F5344CB8AC3E}">
        <p14:creationId xmlns:p14="http://schemas.microsoft.com/office/powerpoint/2010/main" val="1281058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2026-09-14T00:33:36.7290000Z</dcterms:created>
  <dcterms:modified xsi:type="dcterms:W3CDTF">2026-09-14T00:33:36.7290000Z</dcterms:modified>
</coreProperties>
</file>